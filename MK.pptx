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65" r:id="rId4"/>
    <p:sldId id="260" r:id="rId5"/>
    <p:sldId id="267" r:id="rId6"/>
    <p:sldId id="268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nkar Pawar" userId="62cefa291a50ad34" providerId="LiveId" clId="{9B47EE9D-714F-48BD-A963-1B2C43EE28F8}"/>
    <pc:docChg chg="custSel modSld">
      <pc:chgData name="Onkar Pawar" userId="62cefa291a50ad34" providerId="LiveId" clId="{9B47EE9D-714F-48BD-A963-1B2C43EE28F8}" dt="2026-10-12T06:28:42.986" v="252" actId="20577"/>
      <pc:docMkLst>
        <pc:docMk/>
      </pc:docMkLst>
      <pc:sldChg chg="addSp modSp mod">
        <pc:chgData name="Onkar Pawar" userId="62cefa291a50ad34" providerId="LiveId" clId="{9B47EE9D-714F-48BD-A963-1B2C43EE28F8}" dt="2026-10-12T06:28:42.986" v="252" actId="20577"/>
        <pc:sldMkLst>
          <pc:docMk/>
          <pc:sldMk cId="0" sldId="256"/>
        </pc:sldMkLst>
        <pc:spChg chg="add mod">
          <ac:chgData name="Onkar Pawar" userId="62cefa291a50ad34" providerId="LiveId" clId="{9B47EE9D-714F-48BD-A963-1B2C43EE28F8}" dt="2026-10-12T06:28:42.986" v="252" actId="20577"/>
          <ac:spMkLst>
            <pc:docMk/>
            <pc:sldMk cId="0" sldId="256"/>
            <ac:spMk id="18" creationId="{99CD85F2-6CA0-B2EC-F519-4ED5BC5AE061}"/>
          </ac:spMkLst>
        </pc:spChg>
        <pc:spChg chg="mod">
          <ac:chgData name="Onkar Pawar" userId="62cefa291a50ad34" providerId="LiveId" clId="{9B47EE9D-714F-48BD-A963-1B2C43EE28F8}" dt="2026-10-12T06:19:08.172" v="0" actId="1076"/>
          <ac:spMkLst>
            <pc:docMk/>
            <pc:sldMk cId="0" sldId="256"/>
            <ac:spMk id="2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498079" y="1280160"/>
            <a:ext cx="1737361" cy="548640"/>
          </a:xfrm>
          <a:prstGeom prst="line">
            <a:avLst/>
          </a:prstGeom>
          <a:ln w="17780">
            <a:solidFill>
              <a:srgbClr val="38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235440" y="1828800"/>
            <a:ext cx="1463040" cy="1097280"/>
          </a:xfrm>
          <a:prstGeom prst="line">
            <a:avLst/>
          </a:prstGeom>
          <a:ln w="17780">
            <a:solidFill>
              <a:srgbClr val="38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6766560" y="1280160"/>
            <a:ext cx="731519" cy="1828800"/>
          </a:xfrm>
          <a:prstGeom prst="line">
            <a:avLst/>
          </a:prstGeom>
          <a:ln w="17780">
            <a:solidFill>
              <a:srgbClr val="38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766560" y="3108960"/>
            <a:ext cx="1828800" cy="1005840"/>
          </a:xfrm>
          <a:prstGeom prst="line">
            <a:avLst/>
          </a:prstGeom>
          <a:ln w="17780">
            <a:solidFill>
              <a:srgbClr val="38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8595360" y="2926080"/>
            <a:ext cx="2103120" cy="1188720"/>
          </a:xfrm>
          <a:prstGeom prst="line">
            <a:avLst/>
          </a:prstGeom>
          <a:ln w="17780">
            <a:solidFill>
              <a:srgbClr val="38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498079" y="1280160"/>
            <a:ext cx="1097281" cy="2834640"/>
          </a:xfrm>
          <a:prstGeom prst="line">
            <a:avLst/>
          </a:prstGeom>
          <a:ln w="17780">
            <a:solidFill>
              <a:srgbClr val="38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360919" y="1143000"/>
            <a:ext cx="274320" cy="274320"/>
          </a:xfrm>
          <a:prstGeom prst="ellipse">
            <a:avLst/>
          </a:prstGeom>
          <a:solidFill>
            <a:srgbClr val="FF7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50607" y="1453895"/>
            <a:ext cx="69494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5F8FF"/>
                </a:solidFill>
                <a:latin typeface="Aptos"/>
              </a:rPr>
              <a:t>DEL</a:t>
            </a:r>
          </a:p>
        </p:txBody>
      </p:sp>
      <p:sp>
        <p:nvSpPr>
          <p:cNvPr id="10" name="Oval 9"/>
          <p:cNvSpPr/>
          <p:nvPr/>
        </p:nvSpPr>
        <p:spPr>
          <a:xfrm>
            <a:off x="9098280" y="1691640"/>
            <a:ext cx="274320" cy="274320"/>
          </a:xfrm>
          <a:prstGeom prst="ellipse">
            <a:avLst/>
          </a:prstGeom>
          <a:solidFill>
            <a:srgbClr val="38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87967" y="2002536"/>
            <a:ext cx="69494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5F8FF"/>
                </a:solidFill>
                <a:latin typeface="Aptos"/>
              </a:rPr>
              <a:t>DXB</a:t>
            </a:r>
          </a:p>
        </p:txBody>
      </p:sp>
      <p:sp>
        <p:nvSpPr>
          <p:cNvPr id="12" name="Oval 11"/>
          <p:cNvSpPr/>
          <p:nvPr/>
        </p:nvSpPr>
        <p:spPr>
          <a:xfrm>
            <a:off x="10561319" y="2788920"/>
            <a:ext cx="274320" cy="274320"/>
          </a:xfrm>
          <a:prstGeom prst="ellipse">
            <a:avLst/>
          </a:prstGeom>
          <a:solidFill>
            <a:srgbClr val="38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51007" y="3099816"/>
            <a:ext cx="69494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5F8FF"/>
                </a:solidFill>
                <a:latin typeface="Aptos"/>
              </a:rPr>
              <a:t>LHR</a:t>
            </a:r>
          </a:p>
        </p:txBody>
      </p:sp>
      <p:sp>
        <p:nvSpPr>
          <p:cNvPr id="14" name="Oval 13"/>
          <p:cNvSpPr/>
          <p:nvPr/>
        </p:nvSpPr>
        <p:spPr>
          <a:xfrm>
            <a:off x="6629400" y="2971800"/>
            <a:ext cx="274320" cy="274320"/>
          </a:xfrm>
          <a:prstGeom prst="ellipse">
            <a:avLst/>
          </a:prstGeom>
          <a:solidFill>
            <a:srgbClr val="38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3282696"/>
            <a:ext cx="69494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5F8FF"/>
                </a:solidFill>
                <a:latin typeface="Aptos"/>
              </a:rPr>
              <a:t>BOM</a:t>
            </a:r>
          </a:p>
        </p:txBody>
      </p:sp>
      <p:sp>
        <p:nvSpPr>
          <p:cNvPr id="16" name="Oval 15"/>
          <p:cNvSpPr/>
          <p:nvPr/>
        </p:nvSpPr>
        <p:spPr>
          <a:xfrm>
            <a:off x="8458200" y="3977639"/>
            <a:ext cx="274320" cy="274320"/>
          </a:xfrm>
          <a:prstGeom prst="ellipse">
            <a:avLst/>
          </a:prstGeom>
          <a:solidFill>
            <a:srgbClr val="38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4288536"/>
            <a:ext cx="69494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5F8FF"/>
                </a:solidFill>
                <a:latin typeface="Aptos"/>
              </a:rPr>
              <a:t>SIN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793" y="1230630"/>
            <a:ext cx="6278880" cy="107721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AIRLINE NETWORKS
&amp; WEIGHTED GRAPHS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7" y="2788920"/>
            <a:ext cx="53035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dirty="0">
                <a:solidFill>
                  <a:srgbClr val="B1C1DA"/>
                </a:solidFill>
                <a:latin typeface="Aptos"/>
              </a:rPr>
              <a:t>How graph theory turns routes, distance and cost into decisions.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120640"/>
            <a:ext cx="4023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NODES = AIRPORTS   •   EDGES = FLIGHTS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CD85F2-6CA0-B2EC-F519-4ED5BC5AE061}"/>
              </a:ext>
            </a:extLst>
          </p:cNvPr>
          <p:cNvSpPr txBox="1"/>
          <p:nvPr/>
        </p:nvSpPr>
        <p:spPr>
          <a:xfrm>
            <a:off x="457200" y="3768436"/>
            <a:ext cx="51023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Presented by –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Pranav mohite – WSA040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Om Mali – WSA041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Kunal Magar – WSA044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Tejas Suryavanshi – WSA043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84835" y="1151382"/>
            <a:ext cx="5572125" cy="5238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8FAFD"/>
                </a:solidFill>
                <a:latin typeface="Aptos"/>
              </a:defRPr>
            </a:pPr>
            <a:r>
              <a:t>Turn an airline system into a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3217" y="1927098"/>
            <a:ext cx="4912995" cy="273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A0B2CA"/>
                </a:solidFill>
                <a:latin typeface="Aptos"/>
              </a:defRPr>
            </a:pPr>
            <a:r>
              <a:t>Airports become vertices; direct flight connections become edges.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2743200"/>
            <a:ext cx="2377440" cy="822960"/>
          </a:xfrm>
          <a:prstGeom prst="line">
            <a:avLst/>
          </a:prstGeom>
          <a:ln w="22860">
            <a:solidFill>
              <a:srgbClr val="A0B2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43784" y="2907792"/>
            <a:ext cx="347472" cy="219456"/>
          </a:xfrm>
          <a:prstGeom prst="roundRect">
            <a:avLst/>
          </a:prstGeom>
          <a:solidFill>
            <a:srgbClr val="0F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0">
                <a:solidFill>
                  <a:srgbClr val="A0B2CA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28800" y="2743200"/>
            <a:ext cx="0" cy="2331720"/>
          </a:xfrm>
          <a:prstGeom prst="line">
            <a:avLst/>
          </a:prstGeom>
          <a:ln w="22860">
            <a:solidFill>
              <a:srgbClr val="A0B2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380744" y="3799332"/>
            <a:ext cx="347472" cy="219456"/>
          </a:xfrm>
          <a:prstGeom prst="roundRect">
            <a:avLst/>
          </a:prstGeom>
          <a:solidFill>
            <a:srgbClr val="0F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0">
                <a:solidFill>
                  <a:srgbClr val="A0B2CA"/>
                </a:solidFill>
                <a:latin typeface="Aptos"/>
              </a:defRPr>
            </a:pPr>
            <a:r>
              <a:t>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" y="2743200"/>
            <a:ext cx="2377440" cy="2331720"/>
          </a:xfrm>
          <a:prstGeom prst="line">
            <a:avLst/>
          </a:prstGeom>
          <a:ln w="22860">
            <a:solidFill>
              <a:srgbClr val="A0B2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3" y="3936492"/>
            <a:ext cx="347472" cy="219456"/>
          </a:xfrm>
          <a:prstGeom prst="roundRect">
            <a:avLst/>
          </a:prstGeom>
          <a:solidFill>
            <a:srgbClr val="0F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0">
                <a:solidFill>
                  <a:srgbClr val="A0B2CA"/>
                </a:solidFill>
                <a:latin typeface="Aptos"/>
              </a:defRPr>
            </a:pPr>
            <a:r>
              <a:t>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06240" y="3566160"/>
            <a:ext cx="0" cy="1508760"/>
          </a:xfrm>
          <a:prstGeom prst="line">
            <a:avLst/>
          </a:prstGeom>
          <a:ln w="22860">
            <a:solidFill>
              <a:srgbClr val="A0B2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52543" y="4210812"/>
            <a:ext cx="347472" cy="219456"/>
          </a:xfrm>
          <a:prstGeom prst="roundRect">
            <a:avLst/>
          </a:prstGeom>
          <a:solidFill>
            <a:srgbClr val="0F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0">
                <a:solidFill>
                  <a:srgbClr val="A0B2CA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06240" y="3566160"/>
            <a:ext cx="2468880" cy="274320"/>
          </a:xfrm>
          <a:prstGeom prst="line">
            <a:avLst/>
          </a:prstGeom>
          <a:ln w="22860">
            <a:solidFill>
              <a:srgbClr val="A0B2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266943" y="3428999"/>
            <a:ext cx="347472" cy="219456"/>
          </a:xfrm>
          <a:prstGeom prst="roundRect">
            <a:avLst/>
          </a:prstGeom>
          <a:solidFill>
            <a:srgbClr val="0F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0">
                <a:solidFill>
                  <a:srgbClr val="A0B2CA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206240" y="3840480"/>
            <a:ext cx="2468880" cy="1234440"/>
          </a:xfrm>
          <a:prstGeom prst="line">
            <a:avLst/>
          </a:prstGeom>
          <a:ln w="22860">
            <a:solidFill>
              <a:srgbClr val="A0B2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312663" y="4485132"/>
            <a:ext cx="347472" cy="219456"/>
          </a:xfrm>
          <a:prstGeom prst="roundRect">
            <a:avLst/>
          </a:prstGeom>
          <a:solidFill>
            <a:srgbClr val="0F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0">
                <a:solidFill>
                  <a:srgbClr val="A0B2CA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1828800" y="3840480"/>
            <a:ext cx="4846320" cy="1234440"/>
          </a:xfrm>
          <a:prstGeom prst="line">
            <a:avLst/>
          </a:prstGeom>
          <a:ln w="22860">
            <a:solidFill>
              <a:srgbClr val="A0B2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23944" y="4576572"/>
            <a:ext cx="347472" cy="219456"/>
          </a:xfrm>
          <a:prstGeom prst="roundRect">
            <a:avLst/>
          </a:prstGeom>
          <a:solidFill>
            <a:srgbClr val="0F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0">
                <a:solidFill>
                  <a:srgbClr val="A0B2C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Oval 20"/>
          <p:cNvSpPr/>
          <p:nvPr/>
        </p:nvSpPr>
        <p:spPr>
          <a:xfrm>
            <a:off x="1435608" y="2350008"/>
            <a:ext cx="786384" cy="786384"/>
          </a:xfrm>
          <a:prstGeom prst="ellipse">
            <a:avLst/>
          </a:prstGeom>
          <a:solidFill>
            <a:srgbClr val="E0EDFF"/>
          </a:solidFill>
          <a:ln w="2032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F1D37"/>
                </a:solidFill>
                <a:latin typeface="Aptos"/>
              </a:defRPr>
            </a:pPr>
            <a:r>
              <a:t>Delhi</a:t>
            </a:r>
          </a:p>
        </p:txBody>
      </p:sp>
      <p:sp>
        <p:nvSpPr>
          <p:cNvPr id="22" name="Oval 21"/>
          <p:cNvSpPr/>
          <p:nvPr/>
        </p:nvSpPr>
        <p:spPr>
          <a:xfrm>
            <a:off x="3813048" y="3172968"/>
            <a:ext cx="786384" cy="786384"/>
          </a:xfrm>
          <a:prstGeom prst="ellipse">
            <a:avLst/>
          </a:prstGeom>
          <a:solidFill>
            <a:srgbClr val="E0EDFF"/>
          </a:solidFill>
          <a:ln w="2032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F1D37"/>
                </a:solidFill>
                <a:latin typeface="Aptos"/>
              </a:defRPr>
            </a:pPr>
            <a:r>
              <a:t>Mumbai</a:t>
            </a:r>
          </a:p>
        </p:txBody>
      </p:sp>
      <p:sp>
        <p:nvSpPr>
          <p:cNvPr id="23" name="Oval 22"/>
          <p:cNvSpPr/>
          <p:nvPr/>
        </p:nvSpPr>
        <p:spPr>
          <a:xfrm>
            <a:off x="3813048" y="4681728"/>
            <a:ext cx="786384" cy="786384"/>
          </a:xfrm>
          <a:prstGeom prst="ellipse">
            <a:avLst/>
          </a:prstGeom>
          <a:solidFill>
            <a:srgbClr val="E0EDFF"/>
          </a:solidFill>
          <a:ln w="2032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F1D37"/>
                </a:solidFill>
                <a:latin typeface="Aptos"/>
              </a:defRPr>
            </a:pPr>
            <a:r>
              <a:t>Bengaluru</a:t>
            </a:r>
          </a:p>
        </p:txBody>
      </p:sp>
      <p:sp>
        <p:nvSpPr>
          <p:cNvPr id="24" name="Oval 23"/>
          <p:cNvSpPr/>
          <p:nvPr/>
        </p:nvSpPr>
        <p:spPr>
          <a:xfrm>
            <a:off x="6281928" y="3447288"/>
            <a:ext cx="786384" cy="786384"/>
          </a:xfrm>
          <a:prstGeom prst="ellipse">
            <a:avLst/>
          </a:prstGeom>
          <a:solidFill>
            <a:srgbClr val="E0EDFF"/>
          </a:solidFill>
          <a:ln w="2032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F1D37"/>
                </a:solidFill>
                <a:latin typeface="Aptos"/>
              </a:defRPr>
            </a:pPr>
            <a:r>
              <a:t>Chennai</a:t>
            </a:r>
          </a:p>
        </p:txBody>
      </p:sp>
      <p:sp>
        <p:nvSpPr>
          <p:cNvPr id="25" name="Oval 24"/>
          <p:cNvSpPr/>
          <p:nvPr/>
        </p:nvSpPr>
        <p:spPr>
          <a:xfrm>
            <a:off x="1435608" y="4681728"/>
            <a:ext cx="786384" cy="786384"/>
          </a:xfrm>
          <a:prstGeom prst="ellipse">
            <a:avLst/>
          </a:prstGeom>
          <a:solidFill>
            <a:srgbClr val="E0EDFF"/>
          </a:solidFill>
          <a:ln w="2032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F1D37"/>
                </a:solidFill>
                <a:latin typeface="Aptos"/>
              </a:defRPr>
            </a:pPr>
            <a:r>
              <a:t>Kolkata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2148840"/>
            <a:ext cx="3429000" cy="1097280"/>
          </a:xfrm>
          <a:prstGeom prst="roundRect">
            <a:avLst/>
          </a:prstGeom>
          <a:solidFill>
            <a:srgbClr val="182B4B"/>
          </a:solidFill>
          <a:ln>
            <a:solidFill>
              <a:srgbClr val="2B4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863840" y="2258568"/>
            <a:ext cx="50292" cy="877824"/>
          </a:xfrm>
          <a:prstGeom prst="rect">
            <a:avLst/>
          </a:prstGeom>
          <a:solidFill>
            <a:srgbClr val="4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65008" y="2313432"/>
            <a:ext cx="3063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8FAFD"/>
                </a:solidFill>
                <a:latin typeface="Aptos"/>
              </a:defRPr>
            </a:pPr>
            <a:r>
              <a:t>DIRECTED OR UNDIRECTED?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8" y="2715768"/>
            <a:ext cx="3063240" cy="41147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DEE8F5"/>
                </a:solidFill>
                <a:latin typeface="Aptos"/>
              </a:defRPr>
            </a:pPr>
            <a:r>
              <a:t>Real flights can differ by direction, so directed edges are often more realistic.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3520440"/>
            <a:ext cx="3429000" cy="1097280"/>
          </a:xfrm>
          <a:prstGeom prst="roundRect">
            <a:avLst/>
          </a:prstGeom>
          <a:solidFill>
            <a:srgbClr val="182B4B"/>
          </a:solidFill>
          <a:ln>
            <a:solidFill>
              <a:srgbClr val="2B4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863840" y="3630168"/>
            <a:ext cx="50292" cy="877824"/>
          </a:xfrm>
          <a:prstGeom prst="rect">
            <a:avLst/>
          </a:prstGeom>
          <a:solidFill>
            <a:srgbClr val="FF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65008" y="3685032"/>
            <a:ext cx="3063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8FAFD"/>
                </a:solidFill>
                <a:latin typeface="Aptos"/>
              </a:defRPr>
            </a:pPr>
            <a:r>
              <a:t>WHAT DOES A WEIGHT MEAN?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5008" y="4087368"/>
            <a:ext cx="3063240" cy="41147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DEE8F5"/>
                </a:solidFill>
                <a:latin typeface="Aptos"/>
              </a:defRPr>
            </a:pPr>
            <a:r>
              <a:t>This example uses illustrative travel time in hours, not real flight data.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4892040"/>
            <a:ext cx="3429000" cy="1097280"/>
          </a:xfrm>
          <a:prstGeom prst="roundRect">
            <a:avLst/>
          </a:prstGeom>
          <a:solidFill>
            <a:srgbClr val="182B4B"/>
          </a:solidFill>
          <a:ln>
            <a:solidFill>
              <a:srgbClr val="2B4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863840" y="5001768"/>
            <a:ext cx="50292" cy="877824"/>
          </a:xfrm>
          <a:prstGeom prst="rect">
            <a:avLst/>
          </a:prstGeom>
          <a:solidFill>
            <a:srgbClr val="4B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65008" y="5056631"/>
            <a:ext cx="3063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8FAFD"/>
                </a:solidFill>
                <a:latin typeface="Aptos"/>
              </a:defRPr>
            </a:pPr>
            <a:r>
              <a:t>MODEL LIMIT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65008" y="5458968"/>
            <a:ext cx="3063240" cy="41147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DEE8F5"/>
                </a:solidFill>
                <a:latin typeface="Aptos"/>
              </a:defRPr>
            </a:pPr>
            <a:r>
              <a:t>Schedules, layovers and delays are not included yet.</a:t>
            </a:r>
          </a:p>
        </p:txBody>
      </p:sp>
    </p:spTree>
    <p:extLst>
      <p:ext uri="{BB962C8B-B14F-4D97-AF65-F5344CB8AC3E}">
        <p14:creationId xmlns:p14="http://schemas.microsoft.com/office/powerpoint/2010/main" val="2130739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8FAFD"/>
                </a:solidFill>
                <a:latin typeface="Aptos"/>
              </a:defRPr>
            </a:pPr>
            <a:r>
              <a:t>Graph theory in one minute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A0B2CA"/>
                </a:solidFill>
                <a:latin typeface="Aptos"/>
              </a:defRPr>
            </a:pPr>
            <a:r>
              <a:t>A network is a set of things and the connections between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960120" cy="41148"/>
          </a:xfrm>
          <a:prstGeom prst="rect">
            <a:avLst/>
          </a:prstGeom>
          <a:solidFill>
            <a:srgbClr val="4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2606040" cy="1828800"/>
          </a:xfrm>
          <a:prstGeom prst="roundRect">
            <a:avLst/>
          </a:prstGeom>
          <a:solidFill>
            <a:srgbClr val="182B4B"/>
          </a:solidFill>
          <a:ln>
            <a:solidFill>
              <a:srgbClr val="2B4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167128"/>
            <a:ext cx="50292" cy="1609344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221992"/>
            <a:ext cx="2240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8FAFD"/>
                </a:solidFill>
                <a:latin typeface="Aptos"/>
              </a:defRPr>
            </a:pPr>
            <a:r>
              <a:t>VERTEX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24328"/>
            <a:ext cx="224028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DEE8F5"/>
                </a:solidFill>
                <a:latin typeface="Aptos"/>
              </a:defRPr>
            </a:pPr>
            <a:r>
              <a:t>An object in the network.</a:t>
            </a:r>
          </a:p>
          <a:p>
            <a:pPr>
              <a:spcAft>
                <a:spcPts val="500"/>
              </a:spcAft>
              <a:defRPr sz="1400" b="0">
                <a:solidFill>
                  <a:srgbClr val="DEE8F5"/>
                </a:solidFill>
                <a:latin typeface="Aptos"/>
              </a:defRPr>
            </a:pPr>
            <a:r>
              <a:t>Airline example: an airport.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057400"/>
            <a:ext cx="2606040" cy="1828800"/>
          </a:xfrm>
          <a:prstGeom prst="roundRect">
            <a:avLst/>
          </a:prstGeom>
          <a:solidFill>
            <a:srgbClr val="182B4B"/>
          </a:solidFill>
          <a:ln>
            <a:solidFill>
              <a:srgbClr val="2B4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40" y="2167128"/>
            <a:ext cx="50292" cy="1609344"/>
          </a:xfrm>
          <a:prstGeom prst="rect">
            <a:avLst/>
          </a:prstGeom>
          <a:solidFill>
            <a:srgbClr val="4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21608" y="2221992"/>
            <a:ext cx="2240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8FAFD"/>
                </a:solidFill>
                <a:latin typeface="Aptos"/>
              </a:defRPr>
            </a:pPr>
            <a:r>
              <a:t>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624328"/>
            <a:ext cx="224028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DEE8F5"/>
                </a:solidFill>
                <a:latin typeface="Aptos"/>
              </a:defRPr>
            </a:pPr>
            <a:r>
              <a:t>A connection between two vertices.</a:t>
            </a:r>
          </a:p>
          <a:p>
            <a:pPr>
              <a:spcAft>
                <a:spcPts val="500"/>
              </a:spcAft>
              <a:defRPr sz="1400" b="0">
                <a:solidFill>
                  <a:srgbClr val="DEE8F5"/>
                </a:solidFill>
                <a:latin typeface="Aptos"/>
              </a:defRPr>
            </a:pPr>
            <a:r>
              <a:t>Airline example: a direct flight route.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057400"/>
            <a:ext cx="2606040" cy="1828800"/>
          </a:xfrm>
          <a:prstGeom prst="roundRect">
            <a:avLst/>
          </a:prstGeom>
          <a:solidFill>
            <a:srgbClr val="182B4B"/>
          </a:solidFill>
          <a:ln>
            <a:solidFill>
              <a:srgbClr val="2B4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55080" y="2167128"/>
            <a:ext cx="50292" cy="1609344"/>
          </a:xfrm>
          <a:prstGeom prst="rect">
            <a:avLst/>
          </a:prstGeom>
          <a:solidFill>
            <a:srgbClr val="FF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56248" y="2221992"/>
            <a:ext cx="2240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8FAFD"/>
                </a:solidFill>
                <a:latin typeface="Aptos"/>
              </a:defRPr>
            </a:pPr>
            <a:r>
              <a:t>WEIGHT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2624328"/>
            <a:ext cx="224028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DEE8F5"/>
                </a:solidFill>
                <a:latin typeface="Aptos"/>
              </a:defRPr>
            </a:pPr>
            <a:r>
              <a:t>A number attached to an edge.</a:t>
            </a:r>
          </a:p>
          <a:p>
            <a:pPr>
              <a:spcAft>
                <a:spcPts val="500"/>
              </a:spcAft>
              <a:defRPr sz="1400" b="0">
                <a:solidFill>
                  <a:srgbClr val="DEE8F5"/>
                </a:solidFill>
                <a:latin typeface="Aptos"/>
              </a:defRPr>
            </a:pPr>
            <a:r>
              <a:t>Example: time, distance or fare.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2057400"/>
            <a:ext cx="2286000" cy="1828800"/>
          </a:xfrm>
          <a:prstGeom prst="roundRect">
            <a:avLst/>
          </a:prstGeom>
          <a:solidFill>
            <a:srgbClr val="182B4B"/>
          </a:solidFill>
          <a:ln>
            <a:solidFill>
              <a:srgbClr val="2B4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89720" y="2167128"/>
            <a:ext cx="50292" cy="1609344"/>
          </a:xfrm>
          <a:prstGeom prst="rect">
            <a:avLst/>
          </a:prstGeom>
          <a:solidFill>
            <a:srgbClr val="4B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90888" y="2221992"/>
            <a:ext cx="1920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8FAFD"/>
                </a:solidFill>
                <a:latin typeface="Aptos"/>
              </a:defRPr>
            </a:pPr>
            <a:r>
              <a:t>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8" y="2624328"/>
            <a:ext cx="192024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DEE8F5"/>
                </a:solidFill>
                <a:latin typeface="Aptos"/>
              </a:defRPr>
            </a:pPr>
            <a:r>
              <a:t>A sequence of connected vertices.</a:t>
            </a:r>
          </a:p>
          <a:p>
            <a:pPr>
              <a:spcAft>
                <a:spcPts val="500"/>
              </a:spcAft>
              <a:defRPr sz="1300" b="0">
                <a:solidFill>
                  <a:srgbClr val="DEE8F5"/>
                </a:solidFill>
                <a:latin typeface="Aptos"/>
              </a:defRPr>
            </a:pPr>
            <a:r>
              <a:t>Example: Delhi → Mumbai → Chennai.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434840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40CDDC"/>
                </a:solidFill>
                <a:latin typeface="Aptos"/>
              </a:defRPr>
            </a:pPr>
            <a:r>
              <a:t>Graph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828032"/>
            <a:ext cx="10698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F8FAFD"/>
                </a:solidFill>
                <a:latin typeface="Aptos"/>
              </a:defRPr>
            </a:pPr>
            <a:r>
              <a:t>G = (V, E)     •     V = airports     •     E = flight connections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532120"/>
            <a:ext cx="106984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DEE8F5"/>
                </a:solidFill>
                <a:latin typeface="Aptos"/>
              </a:defRPr>
            </a:pPr>
            <a:r>
              <a:t>A weighted graph adds w(e), the numerical cost of each connection.</a:t>
            </a:r>
          </a:p>
        </p:txBody>
      </p:sp>
    </p:spTree>
    <p:extLst>
      <p:ext uri="{BB962C8B-B14F-4D97-AF65-F5344CB8AC3E}">
        <p14:creationId xmlns:p14="http://schemas.microsoft.com/office/powerpoint/2010/main" val="2935291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From route map to algorithm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43584"/>
            <a:ext cx="11155680" cy="0"/>
          </a:xfrm>
          <a:prstGeom prst="line">
            <a:avLst/>
          </a:prstGeom>
          <a:ln w="12700">
            <a:solidFill>
              <a:srgbClr val="172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481328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 computer can calculate the lowest-cost path instead of checking every possible route by hand.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3063240" cy="1828800"/>
          </a:xfrm>
          <a:prstGeom prst="roundRect">
            <a:avLst/>
          </a:prstGeom>
          <a:solidFill>
            <a:srgbClr val="0F1F3F"/>
          </a:solidFill>
          <a:ln w="15240">
            <a:solidFill>
              <a:srgbClr val="38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32688" y="2487168"/>
            <a:ext cx="420624" cy="420624"/>
          </a:xfrm>
          <a:prstGeom prst="ellipse">
            <a:avLst/>
          </a:prstGeom>
          <a:solidFill>
            <a:srgbClr val="38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6" y="257860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A142D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542032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38DCE6"/>
                </a:solidFill>
                <a:latin typeface="Aptos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54680"/>
            <a:ext cx="25603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Airport graph
+ edge weights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331720"/>
            <a:ext cx="3063240" cy="1828800"/>
          </a:xfrm>
          <a:prstGeom prst="roundRect">
            <a:avLst/>
          </a:prstGeom>
          <a:solidFill>
            <a:srgbClr val="0F1F3F"/>
          </a:solidFill>
          <a:ln w="15240">
            <a:solidFill>
              <a:srgbClr val="FF7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636007" y="2487168"/>
            <a:ext cx="420624" cy="420624"/>
          </a:xfrm>
          <a:prstGeom prst="ellipse">
            <a:avLst/>
          </a:prstGeom>
          <a:solidFill>
            <a:srgbClr val="FF7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45736" y="257860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A142D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59" y="2542032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7166"/>
                </a:solidFill>
                <a:latin typeface="Aptos"/>
              </a:rPr>
              <a:t>ALGORITHM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3154680"/>
            <a:ext cx="25603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Dijkstra’s algorithm
(non-negative weights)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331720"/>
            <a:ext cx="3063240" cy="1828800"/>
          </a:xfrm>
          <a:prstGeom prst="roundRect">
            <a:avLst/>
          </a:prstGeom>
          <a:solidFill>
            <a:srgbClr val="0F1F3F"/>
          </a:solidFill>
          <a:ln w="15240">
            <a:solidFill>
              <a:srgbClr val="69E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39327" y="2487168"/>
            <a:ext cx="420624" cy="420624"/>
          </a:xfrm>
          <a:prstGeom prst="ellipse">
            <a:avLst/>
          </a:prstGeom>
          <a:solidFill>
            <a:srgbClr val="69E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49056" y="257860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A142D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542032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69E2A8"/>
                </a:solidFill>
                <a:latin typeface="Aptos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154680"/>
            <a:ext cx="25603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Lowest-cost path
+ total weight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40480" y="3246120"/>
            <a:ext cx="457200" cy="0"/>
          </a:xfrm>
          <a:prstGeom prst="line">
            <a:avLst/>
          </a:prstGeom>
          <a:ln w="38100">
            <a:solidFill>
              <a:srgbClr val="FFCE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543800" y="3246120"/>
            <a:ext cx="457200" cy="0"/>
          </a:xfrm>
          <a:prstGeom prst="line">
            <a:avLst/>
          </a:prstGeom>
          <a:ln w="38100">
            <a:solidFill>
              <a:srgbClr val="FFCE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470916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B1C1DA"/>
                </a:solidFill>
                <a:latin typeface="Aptos"/>
              </a:rPr>
              <a:t>THE SAME IDEA POWERS: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166360"/>
            <a:ext cx="2514600" cy="731520"/>
          </a:xfrm>
          <a:prstGeom prst="roundRect">
            <a:avLst/>
          </a:prstGeom>
          <a:solidFill>
            <a:srgbClr val="17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266944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38DCE6"/>
                </a:solidFill>
                <a:latin typeface="Aptos"/>
              </a:rPr>
              <a:t>GPS &amp; maps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522976"/>
            <a:ext cx="23317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F5F8FF"/>
                </a:solidFill>
                <a:latin typeface="Aptos"/>
              </a:rPr>
              <a:t>Road / travel routing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0439" y="5166360"/>
            <a:ext cx="2514600" cy="731520"/>
          </a:xfrm>
          <a:prstGeom prst="roundRect">
            <a:avLst/>
          </a:prstGeom>
          <a:solidFill>
            <a:srgbClr val="17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11879" y="5266944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38DCE6"/>
                </a:solidFill>
                <a:latin typeface="Aptos"/>
              </a:rPr>
              <a:t>Networking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79" y="5522976"/>
            <a:ext cx="23317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F5F8FF"/>
                </a:solidFill>
                <a:latin typeface="Aptos"/>
              </a:rPr>
              <a:t>Packet routing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59" y="5166360"/>
            <a:ext cx="2514600" cy="731520"/>
          </a:xfrm>
          <a:prstGeom prst="roundRect">
            <a:avLst/>
          </a:prstGeom>
          <a:solidFill>
            <a:srgbClr val="17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799" y="5266944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38DCE6"/>
                </a:solidFill>
                <a:latin typeface="Aptos"/>
              </a:rPr>
              <a:t>Robotics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799" y="5522976"/>
            <a:ext cx="23317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F5F8FF"/>
                </a:solidFill>
                <a:latin typeface="Aptos"/>
              </a:rPr>
              <a:t>Motion planning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80" y="5166360"/>
            <a:ext cx="2514600" cy="731520"/>
          </a:xfrm>
          <a:prstGeom prst="roundRect">
            <a:avLst/>
          </a:prstGeom>
          <a:solidFill>
            <a:srgbClr val="17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89719" y="5266944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38DCE6"/>
                </a:solidFill>
                <a:latin typeface="Aptos"/>
              </a:rPr>
              <a:t>Logistics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19" y="5522976"/>
            <a:ext cx="23317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F5F8FF"/>
                </a:solidFill>
                <a:latin typeface="Aptos"/>
              </a:rPr>
              <a:t>Delivery optimisation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8FAFD"/>
                </a:solidFill>
                <a:latin typeface="Aptos"/>
              </a:defRPr>
            </a:pPr>
            <a:r>
              <a:t>Dijkstra’s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A0B2CA"/>
                </a:solidFill>
                <a:latin typeface="Aptos"/>
              </a:defRPr>
            </a:pPr>
            <a:r>
              <a:t>Finds shortest paths from a source when every edge weight is non-negative.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960120" cy="41148"/>
          </a:xfrm>
          <a:prstGeom prst="rect">
            <a:avLst/>
          </a:prstGeom>
          <a:solidFill>
            <a:srgbClr val="4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1993392"/>
            <a:ext cx="438912" cy="438912"/>
          </a:xfrm>
          <a:prstGeom prst="ellipse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D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11680"/>
            <a:ext cx="19659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40CDDC"/>
                </a:solidFill>
                <a:latin typeface="Aptos"/>
              </a:defRPr>
            </a:pPr>
            <a:r>
              <a:t>INITIALISE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002536"/>
            <a:ext cx="77724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DEE8F5"/>
                </a:solidFill>
                <a:latin typeface="Aptos"/>
              </a:defRPr>
            </a:pPr>
            <a:r>
              <a:t>Source distance = 0; all others = ∞.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779776"/>
            <a:ext cx="438912" cy="438912"/>
          </a:xfrm>
          <a:prstGeom prst="ellipse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D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798064"/>
            <a:ext cx="19659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40CDDC"/>
                </a:solidFill>
                <a:latin typeface="Aptos"/>
              </a:defRPr>
            </a:pPr>
            <a:r>
              <a:t>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788920"/>
            <a:ext cx="77724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DEE8F5"/>
                </a:solidFill>
                <a:latin typeface="Aptos"/>
              </a:defRPr>
            </a:pPr>
            <a:r>
              <a:t>Choose the unvisited vertex with the smallest distance.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566160"/>
            <a:ext cx="438912" cy="438912"/>
          </a:xfrm>
          <a:prstGeom prst="ellipse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D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584448"/>
            <a:ext cx="19659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40CDDC"/>
                </a:solidFill>
                <a:latin typeface="Aptos"/>
              </a:defRPr>
            </a:pPr>
            <a:r>
              <a:t>RELAX EDGES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575304"/>
            <a:ext cx="77724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DEE8F5"/>
                </a:solidFill>
                <a:latin typeface="Aptos"/>
              </a:defRPr>
            </a:pPr>
            <a:r>
              <a:t>Test each neighbour: current distance + edge weight.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352544"/>
            <a:ext cx="438912" cy="438912"/>
          </a:xfrm>
          <a:prstGeom prst="ellipse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D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370831"/>
            <a:ext cx="19659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40CDDC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4361688"/>
            <a:ext cx="77724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DEE8F5"/>
                </a:solidFill>
                <a:latin typeface="Aptos"/>
              </a:defRPr>
            </a:pPr>
            <a:r>
              <a:t>Keep the smaller distance and record its predecessor.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138928"/>
            <a:ext cx="438912" cy="438912"/>
          </a:xfrm>
          <a:prstGeom prst="ellipse">
            <a:avLst/>
          </a:prstGeom>
          <a:solidFill>
            <a:srgbClr val="4B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D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157216"/>
            <a:ext cx="19659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40CDDC"/>
                </a:solidFill>
                <a:latin typeface="Aptos"/>
              </a:defRPr>
            </a:pPr>
            <a:r>
              <a:t>REPEAT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148072"/>
            <a:ext cx="77724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DEE8F5"/>
                </a:solidFill>
                <a:latin typeface="Aptos"/>
              </a:defRPr>
            </a:pPr>
            <a:r>
              <a:t>Continue until the destination is settled or no reachable vertices remain.</a:t>
            </a:r>
          </a:p>
        </p:txBody>
      </p:sp>
    </p:spTree>
    <p:extLst>
      <p:ext uri="{BB962C8B-B14F-4D97-AF65-F5344CB8AC3E}">
        <p14:creationId xmlns:p14="http://schemas.microsoft.com/office/powerpoint/2010/main" val="3887377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8FAFD"/>
                </a:solidFill>
                <a:latin typeface="Aptos"/>
              </a:defRPr>
            </a:pPr>
            <a:r>
              <a:t>Delhi → Chennai: compare the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A0B2CA"/>
                </a:solidFill>
                <a:latin typeface="Aptos"/>
              </a:defRPr>
            </a:pPr>
            <a:r>
              <a:t>Use the same hypothetical network weights from Slide 3.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960120" cy="41148"/>
          </a:xfrm>
          <a:prstGeom prst="rect">
            <a:avLst/>
          </a:prstGeom>
          <a:solidFill>
            <a:srgbClr val="4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993392"/>
            <a:ext cx="10652760" cy="594360"/>
          </a:xfrm>
          <a:prstGeom prst="roundRect">
            <a:avLst/>
          </a:prstGeom>
          <a:solidFill>
            <a:srgbClr val="182B4B"/>
          </a:solidFill>
          <a:ln>
            <a:solidFill>
              <a:srgbClr val="2B4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320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40CDDC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03120"/>
            <a:ext cx="6217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8FAFD"/>
                </a:solidFill>
                <a:latin typeface="Aptos"/>
              </a:defRPr>
            </a:pPr>
            <a:r>
              <a:t>Delhi → Mumbai → Chennai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103120"/>
            <a:ext cx="2971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1500" b="0">
                <a:solidFill>
                  <a:srgbClr val="DEE8F5"/>
                </a:solidFill>
                <a:latin typeface="Aptos"/>
              </a:defRPr>
            </a:pPr>
            <a:r>
              <a:t>2 + 4 = 6 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761488"/>
            <a:ext cx="10652760" cy="594360"/>
          </a:xfrm>
          <a:prstGeom prst="roundRect">
            <a:avLst/>
          </a:prstGeom>
          <a:solidFill>
            <a:srgbClr val="1A3D52"/>
          </a:solidFill>
          <a:ln>
            <a:solidFill>
              <a:srgbClr val="4B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889504"/>
            <a:ext cx="320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4BCD91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71216"/>
            <a:ext cx="6217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8FAFD"/>
                </a:solidFill>
                <a:latin typeface="Aptos"/>
              </a:defRPr>
            </a:pPr>
            <a:r>
              <a:t>Delhi → Mumbai → Bengaluru → Chennai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871216"/>
            <a:ext cx="2971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1500" b="1">
                <a:solidFill>
                  <a:srgbClr val="4BCD91"/>
                </a:solidFill>
                <a:latin typeface="Aptos"/>
              </a:defRPr>
            </a:pPr>
            <a:r>
              <a:t>2 + 2 + 1 = 5 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29584"/>
            <a:ext cx="10652760" cy="594360"/>
          </a:xfrm>
          <a:prstGeom prst="roundRect">
            <a:avLst/>
          </a:prstGeom>
          <a:solidFill>
            <a:srgbClr val="182B4B"/>
          </a:solidFill>
          <a:ln>
            <a:solidFill>
              <a:srgbClr val="2B4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657600"/>
            <a:ext cx="320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40CDDC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639312"/>
            <a:ext cx="6217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8FAFD"/>
                </a:solidFill>
                <a:latin typeface="Aptos"/>
              </a:defRPr>
            </a:pPr>
            <a:r>
              <a:t>Delhi → Bengaluru → Chennai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639312"/>
            <a:ext cx="2971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1500" b="0">
                <a:solidFill>
                  <a:srgbClr val="DEE8F5"/>
                </a:solidFill>
                <a:latin typeface="Aptos"/>
              </a:defRPr>
            </a:pPr>
            <a:r>
              <a:t>6 + 1 = 7 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297680"/>
            <a:ext cx="10652760" cy="594360"/>
          </a:xfrm>
          <a:prstGeom prst="roundRect">
            <a:avLst/>
          </a:prstGeom>
          <a:solidFill>
            <a:srgbClr val="182B4B"/>
          </a:solidFill>
          <a:ln>
            <a:solidFill>
              <a:srgbClr val="2B4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425696"/>
            <a:ext cx="320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40CDDC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407408"/>
            <a:ext cx="6217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8FAFD"/>
                </a:solidFill>
                <a:latin typeface="Aptos"/>
              </a:defRPr>
            </a:pPr>
            <a:r>
              <a:t>Delhi → Kolkata → Chennai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407408"/>
            <a:ext cx="2971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1500" b="0">
                <a:solidFill>
                  <a:srgbClr val="DEE8F5"/>
                </a:solidFill>
                <a:latin typeface="Aptos"/>
              </a:defRPr>
            </a:pPr>
            <a:r>
              <a:t>3 + 5 = 8 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394960"/>
            <a:ext cx="1920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4BCD91"/>
                </a:solidFill>
                <a:latin typeface="Aptos"/>
              </a:defRPr>
            </a:pPr>
            <a:r>
              <a:t>MINIMUM WEIGHT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87568"/>
            <a:ext cx="106070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F8FAFD"/>
                </a:solidFill>
                <a:latin typeface="Aptos"/>
              </a:defRPr>
            </a:pPr>
            <a:r>
              <a:t>Delhi → Mumbai → Bengaluru → Chennai  |  5 hours</a:t>
            </a:r>
          </a:p>
        </p:txBody>
      </p:sp>
    </p:spTree>
    <p:extLst>
      <p:ext uri="{BB962C8B-B14F-4D97-AF65-F5344CB8AC3E}">
        <p14:creationId xmlns:p14="http://schemas.microsoft.com/office/powerpoint/2010/main" val="3960547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One graph, many optimisation goals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43584"/>
            <a:ext cx="11155680" cy="0"/>
          </a:xfrm>
          <a:prstGeom prst="line">
            <a:avLst/>
          </a:prstGeom>
          <a:ln w="12700">
            <a:solidFill>
              <a:srgbClr val="172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481328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The “best” route depends on what the weight represents.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5166360" cy="1234440"/>
          </a:xfrm>
          <a:prstGeom prst="roundRect">
            <a:avLst/>
          </a:prstGeom>
          <a:solidFill>
            <a:srgbClr val="0F1F3F"/>
          </a:solidFill>
          <a:ln w="15240">
            <a:solidFill>
              <a:srgbClr val="38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0392" y="2331720"/>
            <a:ext cx="118872" cy="868680"/>
          </a:xfrm>
          <a:prstGeom prst="rect">
            <a:avLst/>
          </a:prstGeom>
          <a:solidFill>
            <a:srgbClr val="38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231343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38DCE6"/>
                </a:solidFill>
                <a:latin typeface="Aptos"/>
              </a:rPr>
              <a:t>DISTANCE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313432"/>
            <a:ext cx="2011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B1C1DA"/>
                </a:solidFill>
                <a:latin typeface="Aptos"/>
              </a:rPr>
              <a:t>Kilometres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67919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Choose a shorter physical route.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48840"/>
            <a:ext cx="5166360" cy="1234440"/>
          </a:xfrm>
          <a:prstGeom prst="roundRect">
            <a:avLst/>
          </a:prstGeom>
          <a:solidFill>
            <a:srgbClr val="0F1F3F"/>
          </a:solidFill>
          <a:ln w="15240">
            <a:solidFill>
              <a:srgbClr val="FF7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28231" y="2331720"/>
            <a:ext cx="118872" cy="868680"/>
          </a:xfrm>
          <a:prstGeom prst="rect">
            <a:avLst/>
          </a:prstGeom>
          <a:solidFill>
            <a:srgbClr val="FF7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02552" y="231343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FF7166"/>
                </a:solidFill>
                <a:latin typeface="Aptos"/>
              </a:rPr>
              <a:t>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2313432"/>
            <a:ext cx="2011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B1C1DA"/>
                </a:solidFill>
                <a:latin typeface="Aptos"/>
              </a:rPr>
              <a:t>Minutes / hours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67919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Choose a faster journey; delays may matter.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49039"/>
            <a:ext cx="5166360" cy="1234440"/>
          </a:xfrm>
          <a:prstGeom prst="roundRect">
            <a:avLst/>
          </a:prstGeom>
          <a:solidFill>
            <a:srgbClr val="0F1F3F"/>
          </a:solidFill>
          <a:ln w="15240">
            <a:solidFill>
              <a:srgbClr val="FFC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0392" y="3931920"/>
            <a:ext cx="118872" cy="868680"/>
          </a:xfrm>
          <a:prstGeom prst="rect">
            <a:avLst/>
          </a:prstGeom>
          <a:solidFill>
            <a:srgbClr val="FFC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24712" y="3913631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FFCE54"/>
                </a:solidFill>
                <a:latin typeface="Aptos"/>
              </a:rP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913631"/>
            <a:ext cx="2011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B1C1DA"/>
                </a:solidFill>
                <a:latin typeface="Aptos"/>
              </a:rPr>
              <a:t>Fare / fuel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" y="427939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Choose a cheaper trip or lower operating cost.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749039"/>
            <a:ext cx="5166360" cy="1234440"/>
          </a:xfrm>
          <a:prstGeom prst="roundRect">
            <a:avLst/>
          </a:prstGeom>
          <a:solidFill>
            <a:srgbClr val="0F1F3F"/>
          </a:solidFill>
          <a:ln w="15240">
            <a:solidFill>
              <a:srgbClr val="69E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28231" y="3931920"/>
            <a:ext cx="118872" cy="868680"/>
          </a:xfrm>
          <a:prstGeom prst="rect">
            <a:avLst/>
          </a:prstGeom>
          <a:solidFill>
            <a:srgbClr val="69E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02552" y="3913631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69E2A8"/>
                </a:solidFill>
                <a:latin typeface="Aptos"/>
              </a:rPr>
              <a:t>EMISSIONS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59" y="3913631"/>
            <a:ext cx="2011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B1C1DA"/>
                </a:solidFill>
                <a:latin typeface="Aptos"/>
              </a:rPr>
              <a:t>CO₂ estimate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427939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Choose a route with lower environmental impact.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73F347-2E3C-4CFE-C664-3DAE1540C627}"/>
              </a:ext>
            </a:extLst>
          </p:cNvPr>
          <p:cNvSpPr txBox="1"/>
          <p:nvPr/>
        </p:nvSpPr>
        <p:spPr>
          <a:xfrm>
            <a:off x="4924425" y="5534025"/>
            <a:ext cx="19431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38DCE6"/>
                </a:solidFill>
                <a:latin typeface="Aptos"/>
              </a:rPr>
              <a:t>THANK YOU</a:t>
            </a:r>
            <a:r>
              <a:rPr sz="2400" b="0" i="0">
                <a:solidFill>
                  <a:srgbClr val="C6C6C6"/>
                </a:solidFill>
                <a:latin typeface="Aptos"/>
                <a:ea typeface="Aptos"/>
                <a:cs typeface="Aptos"/>
              </a:rPr>
              <a:t>​</a:t>
            </a:r>
            <a:endParaRPr lang="en-US" sz="2400"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534</Words>
  <Application>Microsoft Office PowerPoint</Application>
  <PresentationFormat>Widescreen</PresentationFormat>
  <Paragraphs>118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Onkar Pawar</cp:lastModifiedBy>
  <cp:revision>19</cp:revision>
  <dcterms:created xsi:type="dcterms:W3CDTF">2026-10-11T16:09:33Z</dcterms:created>
  <dcterms:modified xsi:type="dcterms:W3CDTF">2026-10-12T06:28:56Z</dcterms:modified>
</cp:coreProperties>
</file>